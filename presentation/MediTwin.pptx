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94A0B8"/>
                </a:solidFill>
                <a:latin typeface="Calibri"/>
              </a:rPr>
              <a:t>Hours with ICU full (next 7 days, mean of 24 futures)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Reactive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Monsoon surge</c:v>
                </c:pt>
                <c:pt idx="2">
                  <c:v>Mass casualty</c:v>
                </c:pt>
                <c:pt idx="3">
                  <c:v>ICU closure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34.5</c:v>
                </c:pt>
                <c:pt idx="1">
                  <c:v>92.4</c:v>
                </c:pt>
                <c:pt idx="2">
                  <c:v>70.2</c:v>
                </c:pt>
                <c:pt idx="3">
                  <c:v>125.0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plan</c:v>
                </c:pt>
              </c:strCache>
            </c:strRef>
          </c:tx>
          <c:spPr>
            <a:solidFill>
              <a:srgbClr val="34D399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Monsoon surge</c:v>
                </c:pt>
                <c:pt idx="2">
                  <c:v>Mass casualty</c:v>
                </c:pt>
                <c:pt idx="3">
                  <c:v>ICU closure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26.4</c:v>
                </c:pt>
                <c:pt idx="2">
                  <c:v>7.9</c:v>
                </c:pt>
                <c:pt idx="3">
                  <c:v>14.5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E6EBF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304D"/>
            </a:solidFill>
          </a:ln>
        </c:spPr>
        <c:txPr>
          <a:bodyPr/>
          <a:lstStyle/>
          <a:p>
            <a:pPr>
              <a:defRPr sz="1200">
                <a:solidFill>
                  <a:srgbClr val="94A0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4304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4304D"/>
            </a:solidFill>
          </a:ln>
        </c:spPr>
        <c:txPr>
          <a:bodyPr/>
          <a:lstStyle/>
          <a:p>
            <a:pPr>
              <a:defRPr sz="1200">
                <a:solidFill>
                  <a:srgbClr val="94A0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E6EBF5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22D3E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822960"/>
            <a:ext cx="7189076" cy="5212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52160" y="822960"/>
            <a:ext cx="7223760" cy="5212080"/>
          </a:xfrm>
          <a:prstGeom prst="rect">
            <a:avLst/>
          </a:prstGeom>
          <a:solidFill>
            <a:srgbClr val="070B16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0" y="0"/>
            <a:ext cx="1463040" cy="6858000"/>
          </a:xfrm>
          <a:prstGeom prst="rect">
            <a:avLst/>
          </a:prstGeom>
          <a:gradFill rotWithShape="1">
            <a:gsLst>
              <a:gs pos="0">
                <a:srgbClr val="070B16"/>
              </a:gs>
              <a:gs pos="100000">
                <a:srgbClr val="070B16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SCOPE · VIT CHENNAI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 i="0">
                <a:solidFill>
                  <a:srgbClr val="E6EBF5"/>
                </a:solidFill>
                <a:latin typeface="Calibri"/>
              </a:rPr>
              <a:t>Medi</a:t>
            </a:r>
            <a:r>
              <a:rPr sz="6600" b="1" i="0">
                <a:solidFill>
                  <a:srgbClr val="22D3EE"/>
                </a:solidFill>
                <a:latin typeface="Calibri"/>
              </a:rPr>
              <a:t>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6EBF5"/>
                </a:solidFill>
                <a:latin typeface="Calibri"/>
              </a:rPr>
              <a:t>AI-Powered Hospital Digital Twin for Predictive Healthcare Operations and Decision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416052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472B6"/>
                </a:solidFill>
                <a:latin typeface="Calibri"/>
              </a:rPr>
              <a:t>Simulate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416052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Optimise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16" y="416052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34D399"/>
                </a:solidFill>
                <a:latin typeface="Calibri"/>
              </a:rPr>
              <a:t>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Shresth Kumar Gupta</a:t>
            </a:r>
            <a:r>
              <a:rPr sz="1600" b="0" i="0">
                <a:solidFill>
                  <a:srgbClr val="94A0B8"/>
                </a:solidFill>
                <a:latin typeface="Calibri"/>
              </a:rPr>
              <a:t>  ·  23BCE1578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Arnav Kamra</a:t>
            </a:r>
            <a:r>
              <a:rPr sz="1600" b="0" i="0">
                <a:solidFill>
                  <a:srgbClr val="94A0B8"/>
                </a:solidFill>
                <a:latin typeface="Calibri"/>
              </a:rPr>
              <a:t>  ·  23BCE1706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School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F472B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472B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Hospitals run on yesterday's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F472B6"/>
                </a:solidFill>
                <a:latin typeface="Calibri"/>
              </a:rPr>
              <a:t>▸  </a:t>
            </a:r>
            <a:r>
              <a:rPr sz="1700" b="1">
                <a:solidFill>
                  <a:srgbClr val="E6EBF5"/>
                </a:solidFill>
                <a:latin typeface="Calibri"/>
              </a:rPr>
              <a:t>Reactive operations. </a:t>
            </a:r>
            <a:r>
              <a:rPr sz="1700" b="0">
                <a:solidFill>
                  <a:srgbClr val="E6EBF5"/>
                </a:solidFill>
                <a:latin typeface="Calibri"/>
              </a:rPr>
              <a:t>Bed crises, ED crowding and cancelled surgery are noticed only after they happen.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F472B6"/>
                </a:solidFill>
                <a:latin typeface="Calibri"/>
              </a:rPr>
              <a:t>▸  </a:t>
            </a:r>
            <a:r>
              <a:rPr sz="1700" b="1">
                <a:solidFill>
                  <a:srgbClr val="E6EBF5"/>
                </a:solidFill>
                <a:latin typeface="Calibri"/>
              </a:rPr>
              <a:t>Siloed decisions. </a:t>
            </a:r>
            <a:r>
              <a:rPr sz="1700" b="0">
                <a:solidFill>
                  <a:srgbClr val="E6EBF5"/>
                </a:solidFill>
                <a:latin typeface="Calibri"/>
              </a:rPr>
              <a:t>Nursing rosters, theatre lists and bed management are planned separately, though they compete for the same beds.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F472B6"/>
                </a:solidFill>
                <a:latin typeface="Calibri"/>
              </a:rPr>
              <a:t>▸  </a:t>
            </a:r>
            <a:r>
              <a:rPr sz="1700" b="1">
                <a:solidFill>
                  <a:srgbClr val="E6EBF5"/>
                </a:solidFill>
                <a:latin typeface="Calibri"/>
              </a:rPr>
              <a:t>No safe place to test. </a:t>
            </a:r>
            <a:r>
              <a:rPr sz="1700" b="0">
                <a:solidFill>
                  <a:srgbClr val="E6EBF5"/>
                </a:solidFill>
                <a:latin typeface="Calibri"/>
              </a:rPr>
              <a:t>A new policy (surge beds, diversion, deferring electives) can only be tried on real patients.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F472B6"/>
                </a:solidFill>
                <a:latin typeface="Calibri"/>
              </a:rPr>
              <a:t>▸  </a:t>
            </a:r>
            <a:r>
              <a:rPr sz="1700" b="1">
                <a:solidFill>
                  <a:srgbClr val="E6EBF5"/>
                </a:solidFill>
                <a:latin typeface="Calibri"/>
              </a:rPr>
              <a:t>Fragmented research. </a:t>
            </a:r>
            <a:r>
              <a:rPr sz="1700" b="0">
                <a:solidFill>
                  <a:srgbClr val="E6EBF5"/>
                </a:solidFill>
                <a:latin typeface="Calibri"/>
              </a:rPr>
              <a:t>Most work does forecasting, simulation or optimisation, rarely all three, and almost never verifies its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78308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31152" y="1783080"/>
            <a:ext cx="2048256" cy="30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947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MEDICAL WARD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945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87171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8163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180 / 180 beds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78308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91472" y="1783080"/>
            <a:ext cx="2048256" cy="3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947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ICU FULL NEXT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1945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BBF24"/>
                </a:solidFill>
                <a:latin typeface="Calibri"/>
              </a:rPr>
              <a:t>34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8163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if nothing 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38328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31152" y="3383280"/>
            <a:ext cx="2048256" cy="30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5478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LEFT WITHOUT BEING SEEN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947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472B6"/>
                </a:solidFill>
                <a:latin typeface="Calibri"/>
              </a:rPr>
              <a:t>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4165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per week, 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38328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91472" y="3383280"/>
            <a:ext cx="2048256" cy="3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5478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ELECTIVES CANCELLED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7947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A78BFA"/>
                </a:solidFill>
                <a:latin typeface="Calibri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4165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per week, no bed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834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Baseline 7-day projection of the twin from its live state (Wed 14 Oct 2026, 08:00).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22D3E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What MediTwin sets out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6EBF5"/>
                </a:solidFill>
                <a:latin typeface="Calibri"/>
              </a:rP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0B8"/>
                </a:solidFill>
                <a:latin typeface="Calibri"/>
              </a:rPr>
              <a:t>Predict ED arrivals and ICU / ward / ED occupancy 14 days ahead, with calibrated uncertainty and explanations.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783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011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472B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6EBF5"/>
                </a:solidFill>
                <a:latin typeface="Calibri"/>
              </a:rPr>
              <a:t>Mirror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24612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0B8"/>
                </a:solidFill>
                <a:latin typeface="Calibri"/>
              </a:rPr>
              <a:t>Hold a live digital twin of every bed, queue and patient, and simulate the hospital forward from that exact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783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011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BBF24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6EBF5"/>
                </a:solidFill>
                <a:latin typeface="Calibri"/>
              </a:rPr>
              <a:t>Optimise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24612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0B8"/>
                </a:solidFill>
                <a:latin typeface="Calibri"/>
              </a:rPr>
              <a:t>Turn forecasts into nurse rosters, theatre lists and patient transfers that respect real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7830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2011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34D399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6EBF5"/>
                </a:solidFill>
                <a:latin typeface="Calibri"/>
              </a:rPr>
              <a:t>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324612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4A0B8"/>
                </a:solidFill>
                <a:latin typeface="Calibri"/>
              </a:rPr>
              <a:t>Propose actions and test each one in the twin first. Only advice that helps is shown.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0C222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2D3EE"/>
                </a:solidFill>
                <a:latin typeface="Calibri"/>
              </a:rPr>
              <a:t>Novelty: </a:t>
            </a:r>
            <a:r>
              <a:rPr sz="1600" b="0" i="0">
                <a:solidFill>
                  <a:srgbClr val="E6EBF5"/>
                </a:solidFill>
                <a:latin typeface="Calibri"/>
              </a:rPr>
              <a:t>all four layers in one loop. Every recommendation is re-simulated and reported with its KPI change and 90% confidence interval before anyone sees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A78BF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64748B"/>
                </a:solidFill>
                <a:latin typeface="Calibri"/>
              </a:rPr>
              <a:t>Hospital data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2 yrs · 165k encounters
ADT-style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01168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94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94A0B8"/>
                </a:solidFill>
                <a:latin typeface="Calibri"/>
              </a:rPr>
              <a:t>Pre-processing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hourly / daily series
calendar · holidays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01168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ML forecasting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SARIMA · LightGBM
ensemble · SHAP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472B6"/>
                </a:solidFill>
                <a:latin typeface="Calibri"/>
              </a:rPr>
              <a:t>Digital twin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live state of every
bed, queue, 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01168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A78BFA"/>
                </a:solidFill>
                <a:latin typeface="Calibri"/>
              </a:rPr>
              <a:t>Simulation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SimPy discrete-event
Monte Carlo · CRN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2537460"/>
            <a:ext cx="320040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00600" y="2537460"/>
            <a:ext cx="320040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2537460"/>
            <a:ext cx="320040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72600" y="2537460"/>
            <a:ext cx="320040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40" y="384048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BBF24"/>
                </a:solidFill>
                <a:latin typeface="Calibri"/>
              </a:rPr>
              <a:t>Optimisation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CP-SAT roster · CP-SAT electives
LP redistribution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84048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34D399"/>
                </a:solidFill>
                <a:latin typeface="Calibri"/>
              </a:rPr>
              <a:t>AI recommendation engine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detect → propose → simulate → score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297680" y="3063240"/>
            <a:ext cx="1805940" cy="77724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4366260"/>
            <a:ext cx="914400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778240" y="3063240"/>
            <a:ext cx="1897380" cy="77724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52560" y="3063240"/>
            <a:ext cx="1188720" cy="77724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89720" y="32461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4D399"/>
                </a:solidFill>
                <a:latin typeface="Calibri"/>
              </a:rPr>
              <a:t>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84048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Interfaces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Streamlit · FastAPI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4366260"/>
            <a:ext cx="457200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349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6EBF5"/>
                </a:solidFill>
                <a:latin typeface="Calibri"/>
              </a:rPr>
              <a:t>One command builds the full twin in ~72 s: </a:t>
            </a:r>
            <a:r>
              <a:rPr sz="1400" b="0" i="0">
                <a:solidFill>
                  <a:srgbClr val="94A0B8"/>
                </a:solidFill>
                <a:latin typeface="Calibri"/>
              </a:rPr>
              <a:t>hospital-twin build → generate history → back-test 4 models × 5 targets → fit + explain → optimise → project 24 futures → verify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FBBF2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BBF24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A realistic synthetic hospital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37360"/>
            <a:ext cx="2322576" cy="3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BEDS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BBF24"/>
                </a:solidFill>
                <a:latin typeface="Calibri"/>
              </a:rPr>
              <a:t>360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ED 36 · ICU 24 · Med 180 · Surg 120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7373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737360"/>
            <a:ext cx="2322576" cy="3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901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ENCOUNTERS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14884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22D3EE"/>
                </a:solidFill>
                <a:latin typeface="Calibri"/>
              </a:rPr>
              <a:t>164,594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724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730 days of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7373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1737360"/>
            <a:ext cx="2322576" cy="3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901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THEATRES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14884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A78BFA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724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+ 16-chair discharge lounge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4" y="17373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737360"/>
            <a:ext cx="2322576" cy="30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901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94A0B8"/>
                </a:solidFill>
                <a:latin typeface="Calibri"/>
              </a:rPr>
              <a:t>ESI LEVELS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14884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472B6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7249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4A0B8"/>
                </a:solidFill>
                <a:latin typeface="Calibri"/>
              </a:rPr>
              <a:t>triage, LWBS patience, 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6EBF5"/>
                </a:solidFill>
                <a:latin typeface="Calibri"/>
              </a:rPr>
              <a:t>Demand reflects Chennai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86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E6EBF5"/>
                </a:solidFill>
                <a:latin typeface="Calibri"/>
              </a:rPr>
              <a:t>Weekly cycle and hour-of-day profile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E6EBF5"/>
                </a:solidFill>
                <a:latin typeface="Calibri"/>
              </a:rPr>
              <a:t>North-east monsoon fever season, summer heat, winter respiratory wave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E6EBF5"/>
                </a:solidFill>
                <a:latin typeface="Calibri"/>
              </a:rPr>
              <a:t>Indian public holidays and a Diwali trauma spike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E6EBF5"/>
                </a:solidFill>
                <a:latin typeface="Calibri"/>
              </a:rPr>
              <a:t>AR(1) day-to-day noise and random mass-casualty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29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6EBF5"/>
                </a:solidFill>
                <a:latin typeface="Calibri"/>
              </a:rPr>
              <a:t>Why it is credible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86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E6EBF5"/>
                </a:solidFill>
                <a:latin typeface="Calibri"/>
              </a:rPr>
              <a:t>History is produced by running demand through the simulator, so occupancy, boarding and cancellations respect real capacity limits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E6EBF5"/>
                </a:solidFill>
                <a:latin typeface="Calibri"/>
              </a:rPr>
              <a:t>Fictional hospital (Aarogya Multispecialty, Chennai): no patient data used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▸  </a:t>
            </a:r>
            <a:r>
              <a:rPr sz="1400" b="0">
                <a:solidFill>
                  <a:srgbClr val="E6EBF5"/>
                </a:solidFill>
                <a:latin typeface="Calibri"/>
              </a:rPr>
              <a:t>Real HL7 / FHIR ADT feeds would replace the generator without other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22D3E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ML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Forecasting with calibrated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06 / 16</a:t>
            </a:r>
          </a:p>
        </p:txBody>
      </p:sp>
      <p:pic>
        <p:nvPicPr>
          <p:cNvPr id="8" name="Picture 7" descr="forec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035040" cy="4375404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903720" y="1737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4 models: </a:t>
            </a:r>
            <a:r>
              <a:rPr sz="1400" b="0">
                <a:solidFill>
                  <a:srgbClr val="E6EBF5"/>
                </a:solidFill>
                <a:latin typeface="Calibri"/>
              </a:rPr>
              <a:t>seasonal naive, SARIMA with holiday regressors, recursive LightGBM, ensemble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Rolling back-test: </a:t>
            </a:r>
            <a:r>
              <a:rPr sz="1400" b="0">
                <a:solidFill>
                  <a:srgbClr val="E6EBF5"/>
                </a:solidFill>
                <a:latin typeface="Calibri"/>
              </a:rPr>
              <a:t>10 origins × 14-day horizon picks a champion per target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80% bands </a:t>
            </a:r>
            <a:r>
              <a:rPr sz="1400" b="0">
                <a:solidFill>
                  <a:srgbClr val="E6EBF5"/>
                </a:solidFill>
                <a:latin typeface="Calibri"/>
              </a:rPr>
              <a:t>calibrated on back-test residuals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SHAP </a:t>
            </a:r>
            <a:r>
              <a:rPr sz="1400" b="0">
                <a:solidFill>
                  <a:srgbClr val="E6EBF5"/>
                </a:solidFill>
                <a:latin typeface="Calibri"/>
              </a:rPr>
              <a:t>explains the drivers of every forecast day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03720" y="3977639"/>
          <a:ext cx="4754880" cy="1810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5880"/>
                <a:gridCol w="1005840"/>
                <a:gridCol w="822960"/>
                <a:gridCol w="77724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Champion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Cover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ED arrivals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+23%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ED census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10.6%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+28%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ICU census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13.2%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+18%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Medical ward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+19%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Surgical ward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9.9%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03720" y="58978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Skill = MAE reduction vs seasonal naive. Cover = actuals inside the 80% band.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F472B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472B6"/>
                </a:solidFill>
                <a:latin typeface="Calibri"/>
              </a:rPr>
              <a:t>DIGITAL TWIN +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The live digital twin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07 / 16</a:t>
            </a:r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309360" cy="4574286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43800" y="17373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472B6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Snapshot </a:t>
            </a:r>
            <a:r>
              <a:rPr sz="1400" b="0">
                <a:solidFill>
                  <a:srgbClr val="E6EBF5"/>
                </a:solidFill>
                <a:latin typeface="Calibri"/>
              </a:rPr>
              <a:t>of every bed, queue and patient: unit, elapsed stay, acuity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472B6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Warm start: </a:t>
            </a:r>
            <a:r>
              <a:rPr sz="1400" b="0">
                <a:solidFill>
                  <a:srgbClr val="E6EBF5"/>
                </a:solidFill>
                <a:latin typeface="Calibri"/>
              </a:rPr>
              <a:t>simulations begin from now, sampling remaining LOS from truncated log-normals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472B6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SimPy model: </a:t>
            </a:r>
            <a:r>
              <a:rPr sz="1400" b="0">
                <a:solidFill>
                  <a:srgbClr val="E6EBF5"/>
                </a:solidFill>
                <a:latin typeface="Calibri"/>
              </a:rPr>
              <a:t>ESI triage, LWBS, doctor shifts, boarding and outliers, emergency and elective theatres, ICU exit-block, discharge window, lounge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472B6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Monte Carlo: </a:t>
            </a:r>
            <a:r>
              <a:rPr sz="1400" b="0">
                <a:solidFill>
                  <a:srgbClr val="E6EBF5"/>
                </a:solidFill>
                <a:latin typeface="Calibri"/>
              </a:rPr>
              <a:t>24 futures, demand drawn from the forecast band, common random numbers for fair comparisons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F472B6"/>
                </a:solidFill>
                <a:latin typeface="Calibri"/>
              </a:rPr>
              <a:t>▸  </a:t>
            </a:r>
            <a:r>
              <a:rPr sz="1400" b="1">
                <a:solidFill>
                  <a:srgbClr val="E6EBF5"/>
                </a:solidFill>
                <a:latin typeface="Calibri"/>
              </a:rPr>
              <a:t>Animated floor plan </a:t>
            </a:r>
            <a:r>
              <a:rPr sz="1400" b="0">
                <a:solidFill>
                  <a:srgbClr val="E6EBF5"/>
                </a:solidFill>
                <a:latin typeface="Calibri"/>
              </a:rPr>
              <a:t>plays the next 72 h bed by bed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F472B6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472B6"/>
                </a:solidFill>
                <a:latin typeface="Calibri"/>
              </a:rPr>
              <a:t>WHAT-IF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Scenario Lab: stress-test before it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08 / 16</a:t>
            </a:r>
          </a:p>
        </p:txBody>
      </p:sp>
      <p:pic>
        <p:nvPicPr>
          <p:cNvPr id="8" name="Picture 7" descr="lab_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23560" cy="3444430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pic>
        <p:nvPicPr>
          <p:cNvPr id="9" name="Picture 8" descr="lab_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303520" cy="3336798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25780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72B6"/>
                </a:solidFill>
                <a:latin typeface="Calibri"/>
              </a:rPr>
              <a:t>Mass casualty preset: </a:t>
            </a:r>
            <a:r>
              <a:rPr sz="1400" b="0" i="0">
                <a:solidFill>
                  <a:srgbClr val="94A0B8"/>
                </a:solidFill>
                <a:latin typeface="Calibri"/>
              </a:rPr>
              <a:t>35 high-acuity patients arrive 2 hours into day 2. Door-to-doctor rises to 37 min and ICU is full for 70 h. Other presets: monsoon fever surge, ICU bed closure, staff shortage, festival week. One click generates an AI response plan for the scenario.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FBBF2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BBF24"/>
                </a:solidFill>
                <a:latin typeface="Calibri"/>
              </a:rPr>
              <a:t>OPERATIONS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Optimisation: from forecast to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09 / 16</a:t>
            </a:r>
          </a:p>
        </p:txBody>
      </p:sp>
      <p:pic>
        <p:nvPicPr>
          <p:cNvPr id="8" name="Picture 7" descr="optim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035040" cy="4375404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903720" y="169164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BBF24"/>
                </a:solidFill>
                <a:latin typeface="Calibri"/>
              </a:rPr>
              <a:t>Nurse 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305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OR-Tools CP-SAT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4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A0B8"/>
                </a:solidFill>
                <a:latin typeface="Calibri"/>
              </a:rPr>
              <a:t>≤ 1 shift / day, no night → day, contracted hours, night cap, float pool, 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8288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34D399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3774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4A0B8"/>
                </a:solidFill>
                <a:latin typeface="Calibri"/>
              </a:rPr>
              <a:t>uncovered shifts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060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87171"/>
                </a:solidFill>
                <a:latin typeface="Calibri"/>
              </a:rPr>
              <a:t>template: 130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15468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291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BBF24"/>
                </a:solidFill>
                <a:latin typeface="Calibri"/>
              </a:rPr>
              <a:t>Elective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593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OR-Tools CP-SAT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4048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A0B8"/>
                </a:solidFill>
                <a:latin typeface="Calibri"/>
              </a:rPr>
              <a:t>theatre hours + post-op ICU and ward beds against forecast emergency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29184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34D399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840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4A0B8"/>
                </a:solidFill>
                <a:latin typeface="Calibri"/>
              </a:rPr>
              <a:t>bed-overflow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0690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87171"/>
                </a:solidFill>
                <a:latin typeface="Calibri"/>
              </a:rPr>
              <a:t>FIFO: 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617720"/>
            <a:ext cx="4754880" cy="132588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47548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BBF24"/>
                </a:solidFill>
                <a:latin typeface="Calibri"/>
              </a:rPr>
              <a:t>Redistribution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0566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SciPy LP (HiGHS)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30352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A0B8"/>
                </a:solidFill>
                <a:latin typeface="Calibri"/>
              </a:rPr>
              <a:t>moves excess patients to outlier beds or partner hospitals at minimum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7548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34D399"/>
                </a:solidFill>
                <a:latin typeface="Calibri"/>
              </a:rPr>
              <a:t>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303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4A0B8"/>
                </a:solidFill>
                <a:latin typeface="Calibri"/>
              </a:rPr>
              <a:t>optimal transfers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5321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87171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34D39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DECISION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AI recommendations, verified by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Detect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risks in forecasts and twin projections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A78BFA"/>
                </a:solidFill>
                <a:latin typeface="Calibri"/>
              </a:rPr>
              <a:t>Propose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playbook actions with owner and urgency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194560"/>
            <a:ext cx="292608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65776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472B6"/>
                </a:solidFill>
                <a:latin typeface="Calibri"/>
              </a:rPr>
              <a:t>Simulate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re-run the twin with each action (CRN)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8" y="2194560"/>
            <a:ext cx="292608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24344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BBF24"/>
                </a:solidFill>
                <a:latin typeface="Calibri"/>
              </a:rPr>
              <a:t>Score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weighted KPI benefit with 90% CI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31736" y="2194560"/>
            <a:ext cx="292608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82912" y="17373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222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34D399"/>
                </a:solidFill>
                <a:latin typeface="Calibri"/>
              </a:rPr>
              <a:t>Bundle</a:t>
            </a:r>
          </a:p>
          <a:p>
            <a:pPr algn="ctr"/>
            <a:r>
              <a:rPr sz="1050">
                <a:solidFill>
                  <a:srgbClr val="94A0B8"/>
                </a:solidFill>
                <a:latin typeface="Calibri"/>
              </a:rPr>
              <a:t>combine winners and re-verify as one 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90304" y="2194560"/>
            <a:ext cx="292608" cy="0"/>
          </a:xfrm>
          <a:prstGeom prst="line">
            <a:avLst/>
          </a:prstGeom>
          <a:ln w="22225">
            <a:solidFill>
              <a:srgbClr val="94A0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2971800"/>
          <a:ext cx="6583680" cy="2926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8680"/>
                <a:gridCol w="2697480"/>
                <a:gridCol w="2240280"/>
                <a:gridCol w="7772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Simulated effect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Integrated response plan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ICU full 34.5 → 1.8 h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Open 4 temporary ICU beds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ICU full −75%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Discharge-before-noon drive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ICU full −30%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Bed-aware elective schedule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electives +40%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Optimised nurse roster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0 uncovered shifts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87171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Extra ED physician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cost &gt; benefit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−17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87171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Defer 30% of electives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lost surgery outweighs gain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−51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8" name="Picture 17" descr="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971800"/>
            <a:ext cx="4297680" cy="3115818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34D39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Results: AI plan vs reactive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 / 16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18120" y="1691640"/>
          <a:ext cx="384048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Under stress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AI plan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Door-to-doctor (MCI)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37 min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19 min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ED boarding (ICU closure)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2.3 h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0.4 h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LWBS (monsoon)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606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245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LWBS (ICU closure)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172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Electives cancelled (MCI)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EBF5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D399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18120" y="4343400"/>
            <a:ext cx="3840480" cy="1737360"/>
          </a:xfrm>
          <a:prstGeom prst="roundRect">
            <a:avLst>
              <a:gd name="adj" fmla="val 8000"/>
            </a:avLst>
          </a:prstGeom>
          <a:solidFill>
            <a:srgbClr val="0B24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48056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34D399"/>
                </a:solidFill>
                <a:latin typeface="Calibri"/>
              </a:rPr>
              <a:t>3.5–19×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BF5"/>
                </a:solidFill>
                <a:latin typeface="Calibri"/>
              </a:rPr>
              <a:t>fewer ICU-full hours across every stress scenario, with shorter ED waits and fewer patients leaving unseen.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A78BF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Can we trust the twin?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Twin replay: last 8 weeks of observed demand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48840"/>
          <a:ext cx="566928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Calibri"/>
                        </a:rPr>
                        <a:t>Series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78BFA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78BFA"/>
                          </a:solidFill>
                          <a:latin typeface="Calibri"/>
                        </a:rPr>
                        <a:t>Twin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78BFA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ED arrivals / h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8.92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8.95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ED census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23.2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ICU census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19.5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20.3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14.1%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Medical ward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153.3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156.0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Surgical ward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89.1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94.7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10.2%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5262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Optimisers vs simple rules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937760"/>
          <a:ext cx="5669280" cy="1316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78BF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78BFA"/>
                          </a:solidFill>
                          <a:latin typeface="Calibri"/>
                        </a:rPr>
                        <a:t>Rule-based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78BFA"/>
                          </a:solidFill>
                          <a:latin typeface="Calibri"/>
                        </a:rPr>
                        <a:t>Optimised</a:t>
                      </a:r>
                    </a:p>
                  </a:txBody>
                  <a:tcPr marL="91440" marR="91440" marT="27432" marB="27432" anchor="ctr">
                    <a:solidFill>
                      <a:srgbClr val="16203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Uncovered nurse shifts (7 d)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Electives: bed-overflow days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070B16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Electives: P1 cases scheduled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BF5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91440" marR="91440" marT="27432" marB="27432" anchor="ctr">
                    <a:solidFill>
                      <a:srgbClr val="10172A"/>
                    </a:solidFill>
                    <a:lnL w="6350">
                      <a:solidFill>
                        <a:srgbClr val="24304D"/>
                      </a:solidFill>
                    </a:lnL>
                    <a:lnR w="6350">
                      <a:solidFill>
                        <a:srgbClr val="24304D"/>
                      </a:solidFill>
                    </a:lnR>
                    <a:lnT w="6350">
                      <a:solidFill>
                        <a:srgbClr val="24304D"/>
                      </a:solidFill>
                    </a:lnT>
                    <a:lnB w="6350">
                      <a:solidFill>
                        <a:srgbClr val="24304D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model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5074920" cy="3679317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0" y="548640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Model Lab page: architecture, back-test detail, twin validation, optimisation benchmarks and ablation, regenerated by hospital-twin evaluate.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22D3EE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The command centre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 / 16</a:t>
            </a:r>
          </a:p>
        </p:txBody>
      </p:sp>
      <p:pic>
        <p:nvPicPr>
          <p:cNvPr id="8" name="Picture 7" descr="pati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86400" cy="3977640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pic>
        <p:nvPicPr>
          <p:cNvPr id="9" name="Picture 8" descr="lab_sa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440680" cy="2675001"/>
          </a:xfrm>
          <a:prstGeom prst="rect">
            <a:avLst/>
          </a:prstGeom>
          <a:ln w="12700">
            <a:solidFill>
              <a:srgbClr val="24304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48640" y="5806440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Command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5806440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Forecasts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2756" y="580644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Scenario Lab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7820" y="5806440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Optimizer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4848" y="5806440"/>
            <a:ext cx="2139696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AI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580644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Patient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71048" y="5806440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10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Model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REST API (FastAPI): </a:t>
            </a:r>
            <a:r>
              <a:rPr sz="1300" b="0" i="0">
                <a:solidFill>
                  <a:srgbClr val="E6EBF5"/>
                </a:solidFill>
                <a:latin typeface="Calibri"/>
              </a:rPr>
              <a:t>GET /state · /forecast/{target} · /roster · /electives
POST /simulate · /recommendations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A78BFA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938528"/>
            <a:ext cx="164592" cy="164592"/>
          </a:xfrm>
          <a:prstGeom prst="ellipse">
            <a:avLst/>
          </a:prstGeom>
          <a:solidFill>
            <a:srgbClr val="9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7373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Language &amp;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373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4A0B8"/>
                </a:solidFill>
                <a:latin typeface="Calibri"/>
              </a:rPr>
              <a:t>Python 3.12 · uv · pytest (17 tests)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624328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4231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231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4A0B8"/>
                </a:solidFill>
                <a:latin typeface="Calibri"/>
              </a:rPr>
              <a:t>statsmodels SARIMAX · LightGBM · SHAP · scikit-learn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310128"/>
            <a:ext cx="164592" cy="164592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1089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1089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4A0B8"/>
                </a:solidFill>
                <a:latin typeface="Calibri"/>
              </a:rPr>
              <a:t>SimPy discrete-event · joblib parallel Monte Carlo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995928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7947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Optimisation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947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4A0B8"/>
                </a:solidFill>
                <a:latin typeface="Calibri"/>
              </a:rPr>
              <a:t>Google OR-Tools CP-SAT · SciPy linprog (HiGHS)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80560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681728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4805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Decision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4805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4A0B8"/>
                </a:solidFill>
                <a:latin typeface="Calibri"/>
              </a:rPr>
              <a:t>simulation-verified playbook · optional Claude-written executive brief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66360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10172A"/>
          </a:solidFill>
          <a:ln w="12700">
            <a:solidFill>
              <a:srgbClr val="24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5367528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1663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6EBF5"/>
                </a:solidFill>
                <a:latin typeface="Calibri"/>
              </a:rPr>
              <a:t>Interfaces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1663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4A0B8"/>
                </a:solidFill>
                <a:latin typeface="Calibri"/>
              </a:rPr>
              <a:t>Streamlit · Plotly (animated floor plan, Sankey, maps) · 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uv run hospital-twin build  ·  evaluate  ·  app  · 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FBBF2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BBF24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6EBF5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822960" cy="3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BBF24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Patient data is synthetic. Volumes are plausible for an Indian tertiary hospital, but it is not a real record.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Twin validation is partly self-consistent, because history comes from the same simulator.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Nurse staffing is optimised but does not slow care inside the simulator (ED doctors do).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Partner-hospital capacity is static and fictional.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34D399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Connect live HL7 / FHIR ADT feeds and validate against a partner hospital.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Model nurse workload in the simulator, so roster gaps affect patient flow.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Reinforcement learning for sequential bed-management policies.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▸  </a:t>
            </a:r>
            <a:r>
              <a:rPr sz="1500" b="0">
                <a:solidFill>
                  <a:srgbClr val="E6EBF5"/>
                </a:solidFill>
                <a:latin typeface="Calibri"/>
              </a:rPr>
              <a:t>Live regional bed availability for inter-hospital transfers.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51215" y="-2377440"/>
            <a:ext cx="5943600" cy="4572000"/>
          </a:xfrm>
          <a:prstGeom prst="ellipse">
            <a:avLst/>
          </a:prstGeom>
          <a:solidFill>
            <a:srgbClr val="34D399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MediTwin · AI-Powered Hospital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200" b="1" i="0">
                <a:solidFill>
                  <a:srgbClr val="E6EBF5"/>
                </a:solidFill>
                <a:latin typeface="Calibri"/>
              </a:rPr>
              <a:t>Thank </a:t>
            </a:r>
            <a:r>
              <a:rPr sz="7200" b="1" i="0">
                <a:solidFill>
                  <a:srgbClr val="22D3EE"/>
                </a:solidFill>
                <a:latin typeface="Calibri"/>
              </a:rPr>
              <a:t>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0">
                <a:solidFill>
                  <a:srgbClr val="94A0B8"/>
                </a:solidFill>
                <a:latin typeface="Calibri"/>
              </a:rPr>
              <a:t>Forecast  →  Simulate  →  Optimise  →  Recommend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22D3EE"/>
                </a:solidFill>
                <a:latin typeface="Calibri"/>
              </a:rPr>
              <a:t>github.com/Arnav717/hospital-digital-twin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Shresth Kumar Gupta (23BCE1578)  ·  Arnav Kamra (23BCE1706)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SCOPE, VIT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